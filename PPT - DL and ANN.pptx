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58" r:id="rId5"/>
    <p:sldId id="279" r:id="rId6"/>
    <p:sldId id="271" r:id="rId7"/>
    <p:sldId id="259" r:id="rId8"/>
    <p:sldId id="273" r:id="rId9"/>
    <p:sldId id="272" r:id="rId10"/>
    <p:sldId id="260" r:id="rId11"/>
    <p:sldId id="274" r:id="rId12"/>
    <p:sldId id="275" r:id="rId13"/>
    <p:sldId id="276" r:id="rId14"/>
    <p:sldId id="261" r:id="rId15"/>
    <p:sldId id="262" r:id="rId16"/>
    <p:sldId id="263" r:id="rId17"/>
    <p:sldId id="264" r:id="rId18"/>
    <p:sldId id="27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61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 and Deep Learning in Generative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AI, ANN, DL, Generative AI,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Arial" panose="020B0604020202020204" pitchFamily="34" charset="0"/>
              </a:rPr>
              <a:t>AI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Arial" panose="020B0604020202020204" pitchFamily="34" charset="0"/>
              </a:rPr>
              <a:t>└── ML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Arial" panose="020B0604020202020204" pitchFamily="34" charset="0"/>
              </a:rPr>
              <a:t>    └── ANN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Arial" panose="020B0604020202020204" pitchFamily="34" charset="0"/>
              </a:rPr>
              <a:t>        └── DL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Arial" panose="020B0604020202020204" pitchFamily="34" charset="0"/>
              </a:rPr>
              <a:t>            └── Generative AI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Arial" panose="020B0604020202020204" pitchFamily="34" charset="0"/>
              </a:rPr>
              <a:t>                </a:t>
            </a:r>
            <a:r>
              <a:rPr lang="en-US" dirty="0" smtClean="0">
                <a:latin typeface="Arial" panose="020B0604020202020204" pitchFamily="34" charset="0"/>
              </a:rPr>
              <a:t>                 • </a:t>
            </a:r>
            <a:r>
              <a:rPr lang="en-US" dirty="0" err="1">
                <a:latin typeface="Arial" panose="020B0604020202020204" pitchFamily="34" charset="0"/>
              </a:rPr>
              <a:t>ChatGPT</a:t>
            </a:r>
            <a:endParaRPr 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Arial" panose="020B0604020202020204" pitchFamily="34" charset="0"/>
              </a:rPr>
              <a:t>                </a:t>
            </a:r>
            <a:r>
              <a:rPr lang="en-US" dirty="0" smtClean="0">
                <a:latin typeface="Arial" panose="020B0604020202020204" pitchFamily="34" charset="0"/>
              </a:rPr>
              <a:t>                 • </a:t>
            </a:r>
            <a:r>
              <a:rPr lang="en-US" dirty="0">
                <a:latin typeface="Arial" panose="020B0604020202020204" pitchFamily="34" charset="0"/>
              </a:rPr>
              <a:t>Microsoft Copilot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Arial" panose="020B0604020202020204" pitchFamily="34" charset="0"/>
              </a:rPr>
              <a:t>                </a:t>
            </a:r>
            <a:r>
              <a:rPr lang="en-US" dirty="0" smtClean="0">
                <a:latin typeface="Arial" panose="020B0604020202020204" pitchFamily="34" charset="0"/>
              </a:rPr>
              <a:t>                 • </a:t>
            </a:r>
            <a:r>
              <a:rPr lang="en-US" dirty="0">
                <a:latin typeface="Arial" panose="020B0604020202020204" pitchFamily="34" charset="0"/>
              </a:rPr>
              <a:t>Gemini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Arial" panose="020B0604020202020204" pitchFamily="34" charset="0"/>
              </a:rPr>
              <a:t>               </a:t>
            </a:r>
            <a:r>
              <a:rPr lang="en-US" dirty="0" smtClean="0">
                <a:latin typeface="Arial" panose="020B0604020202020204" pitchFamily="34" charset="0"/>
              </a:rPr>
              <a:t>                  </a:t>
            </a:r>
            <a:r>
              <a:rPr lang="en-US" dirty="0">
                <a:latin typeface="Arial" panose="020B0604020202020204" pitchFamily="34" charset="0"/>
              </a:rPr>
              <a:t>• DALL·E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7178273"/>
              </p:ext>
            </p:extLst>
          </p:nvPr>
        </p:nvGraphicFramePr>
        <p:xfrm>
          <a:off x="259309" y="300643"/>
          <a:ext cx="8625386" cy="6766560"/>
        </p:xfrm>
        <a:graphic>
          <a:graphicData uri="http://schemas.openxmlformats.org/drawingml/2006/table">
            <a:tbl>
              <a:tblPr/>
              <a:tblGrid>
                <a:gridCol w="8625386"/>
              </a:tblGrid>
              <a:tr h="1244363">
                <a:tc>
                  <a:txBody>
                    <a:bodyPr/>
                    <a:lstStyle/>
                    <a:p>
                      <a:pPr fontAlgn="t"/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AI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US" b="0" i="0" dirty="0" smtClean="0">
                          <a:effectLst/>
                          <a:latin typeface="Segoe UI" panose="020B0502040204020203" pitchFamily="34" charset="0"/>
                        </a:rPr>
                        <a:t>=AI is the broad concept of making machines perform tasks that normally require human intelligence.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/>
                      </a:r>
                      <a:b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ML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US" b="0" i="0" dirty="0" smtClean="0">
                          <a:effectLst/>
                          <a:latin typeface="Segoe UI" panose="020B0502040204020203" pitchFamily="34" charset="0"/>
                        </a:rPr>
                        <a:t>=</a:t>
                      </a:r>
                      <a:r>
                        <a:rPr lang="en-US" b="0" i="0" baseline="0" dirty="0" smtClean="0">
                          <a:effectLst/>
                          <a:latin typeface="Segoe UI" panose="020B0502040204020203" pitchFamily="34" charset="0"/>
                        </a:rPr>
                        <a:t> ML is a subset of AI where computers learn from data instead of being explicitly programmed.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/>
                      </a:r>
                      <a:b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ANN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US" b="0" i="0" dirty="0" smtClean="0">
                          <a:effectLst/>
                          <a:latin typeface="Segoe UI" panose="020B0502040204020203" pitchFamily="34" charset="0"/>
                        </a:rPr>
                        <a:t>=</a:t>
                      </a:r>
                      <a:r>
                        <a:rPr lang="en-US" b="0" i="0" baseline="0" dirty="0" smtClean="0">
                          <a:effectLst/>
                          <a:latin typeface="Segoe UI" panose="020B0502040204020203" pitchFamily="34" charset="0"/>
                        </a:rPr>
                        <a:t> ANN is a Machine Learning technique inspired by the human brain.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/>
                      </a:r>
                      <a:b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Deep Learning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US" b="0" i="0" dirty="0" smtClean="0">
                          <a:effectLst/>
                          <a:latin typeface="Segoe UI" panose="020B0502040204020203" pitchFamily="34" charset="0"/>
                        </a:rPr>
                        <a:t>=</a:t>
                      </a:r>
                      <a:r>
                        <a:rPr lang="en-US" b="0" i="0" baseline="0" dirty="0" smtClean="0">
                          <a:effectLst/>
                          <a:latin typeface="Segoe UI" panose="020B0502040204020203" pitchFamily="34" charset="0"/>
                        </a:rPr>
                        <a:t> Deep Learning is an advanced ANN with many hidden layers.</a:t>
                      </a: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1091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IN" dirty="0"/>
                    </a:p>
                  </a:txBody>
                  <a:tcP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207510"/>
              </p:ext>
            </p:extLst>
          </p:nvPr>
        </p:nvGraphicFramePr>
        <p:xfrm>
          <a:off x="532265" y="2379635"/>
          <a:ext cx="8134063" cy="3642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516"/>
                <a:gridCol w="1978884"/>
                <a:gridCol w="2088147"/>
                <a:gridCol w="2033516"/>
              </a:tblGrid>
              <a:tr h="590582">
                <a:tc>
                  <a:txBody>
                    <a:bodyPr/>
                    <a:lstStyle/>
                    <a:p>
                      <a:pPr fontAlgn="t"/>
                      <a:r>
                        <a:rPr lang="en-IN" b="1" i="0" dirty="0">
                          <a:effectLst/>
                          <a:latin typeface="Segoe UI" panose="020B0502040204020203" pitchFamily="34" charset="0"/>
                        </a:rPr>
                        <a:t>Simple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590582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ANN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DL</a:t>
                      </a:r>
                    </a:p>
                  </a:txBody>
                  <a:tcPr anchor="ctr"/>
                </a:tc>
              </a:tr>
              <a:tr h="590582">
                <a:tc>
                  <a:txBody>
                    <a:bodyPr/>
                    <a:lstStyle/>
                    <a:p>
                      <a:r>
                        <a:rPr lang="en-IN" dirty="0" smtClean="0">
                          <a:effectLst/>
                        </a:rPr>
                        <a:t>Makes machines intelligent</a:t>
                      </a:r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Learns from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Brain-inspired ML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ANN with many layers</a:t>
                      </a:r>
                    </a:p>
                  </a:txBody>
                  <a:tcPr anchor="ctr"/>
                </a:tc>
              </a:tr>
              <a:tr h="590582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Broadest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Subset of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Subset of 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Subset of ANN</a:t>
                      </a:r>
                    </a:p>
                  </a:txBody>
                  <a:tcPr anchor="ctr"/>
                </a:tc>
              </a:tr>
              <a:tr h="590582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Chatbots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Recommendations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Pass/Fail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Face Recognition</a:t>
                      </a:r>
                    </a:p>
                  </a:txBody>
                  <a:tcPr anchor="ctr"/>
                </a:tc>
              </a:tr>
              <a:tr h="590582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Smart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Pattern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Few layers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Many layers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706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0342"/>
            <a:ext cx="8229600" cy="5117910"/>
          </a:xfrm>
        </p:spPr>
        <p:txBody>
          <a:bodyPr>
            <a:normAutofit/>
          </a:bodyPr>
          <a:lstStyle/>
          <a:p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Brain-inspired model with input, hidden and output layers</a:t>
            </a:r>
            <a:r>
              <a:rPr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Artificial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Neural Networks (ANNs) are the fundamental building blocks of modern deep learning systems.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They consist of interconnected artificial neurons organized into layers that learn from training data to recognize patterns, make predictions and solve complex problems.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Organized into input, hidden and output layers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Learn by adjusting weights and biases during training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Process data through forward propagation and improve using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backpropagation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Support tasks such as classification, regression and prediction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Form the foundation of advanced deep learning architectures such as CNNs, RNNs and Transformer 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Formula = Z=x1w1+x2w2+b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6557" y="261938"/>
            <a:ext cx="4952512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826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op 35 Deep Learning Interview Questions And Answers (Updated 2026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345" y="0"/>
            <a:ext cx="5982569" cy="3204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163" y="3360102"/>
            <a:ext cx="6559067" cy="327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00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ANN Works</a:t>
            </a:r>
          </a:p>
        </p:txBody>
      </p:sp>
      <p:pic>
        <p:nvPicPr>
          <p:cNvPr id="4098" name="Picture 2" descr="Neural Network Diagram Generator — CNN Visualizer | SciFi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528" y="1600200"/>
            <a:ext cx="6788944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77800" y="574951"/>
          <a:ext cx="8583612" cy="5728736"/>
        </p:xfrm>
        <a:graphic>
          <a:graphicData uri="http://schemas.openxmlformats.org/drawingml/2006/table">
            <a:tbl>
              <a:tblPr/>
              <a:tblGrid>
                <a:gridCol w="4291806"/>
                <a:gridCol w="4291806"/>
              </a:tblGrid>
              <a:tr h="436984"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Term 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Meaning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984"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ANN 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Brain-inspired learning system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984"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Neuron 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Basic processing unit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984"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Weight 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Importance of input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984"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Bias 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Extra adjustment value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984"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Activation Function 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Decides neuron output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984"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Forward Propagation 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Data moves forward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984"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Loss Function 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Measures error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984"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Backpropagation 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Learns from mistakes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984"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Epoch 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One full training cycle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984"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Learning Rate 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Learning step size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984"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Overfitting 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Memorizing data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984">
                <a:tc>
                  <a:txBody>
                    <a:bodyPr/>
                    <a:lstStyle/>
                    <a:p>
                      <a:r>
                        <a:rPr lang="en-IN" sz="2400" b="0" i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Underfitting </a:t>
                      </a:r>
                      <a:endParaRPr lang="en-IN" sz="150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  <a:latin typeface="CanvaSans-Regular"/>
                        </a:rPr>
                        <a:t>Not learning enough</a:t>
                      </a:r>
                      <a:endParaRPr lang="en-IN" sz="1500" dirty="0">
                        <a:effectLst/>
                      </a:endParaRPr>
                    </a:p>
                  </a:txBody>
                  <a:tcPr marL="74912" marR="74912" marT="37456" marB="3745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57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54745" y="-637806"/>
            <a:ext cx="8757243" cy="7232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an Artificial Neural Network (ANN) Works:</a:t>
            </a:r>
            <a:b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sz="1800" b="1" dirty="0" smtClean="0"/>
              <a:t>Input Data:</a:t>
            </a:r>
            <a:r>
              <a:rPr lang="en-US" sz="1800" dirty="0" smtClean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 </a:t>
            </a:r>
            <a:r>
              <a:rPr lang="en-US" sz="1800" dirty="0" smtClean="0"/>
              <a:t>                 The </a:t>
            </a:r>
            <a:r>
              <a:rPr lang="en-US" sz="1800" dirty="0"/>
              <a:t>ANN receives input data as a feature. For example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number of hours a student studies is given as input. In this case, the student studies for 6 hours.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Multiply </a:t>
            </a:r>
            <a:r>
              <a:rPr lang="en-US" sz="1800" b="1" dirty="0" smtClean="0">
                <a:latin typeface="Arial" panose="020B0604020202020204" pitchFamily="34" charset="0"/>
              </a:rPr>
              <a:t>Inputs by weights: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smtClean="0">
                <a:latin typeface="Arial" panose="020B0604020202020204" pitchFamily="34" charset="0"/>
              </a:rPr>
              <a:t>              The </a:t>
            </a:r>
            <a:r>
              <a:rPr lang="en-US" sz="1800" dirty="0">
                <a:latin typeface="Arial" panose="020B0604020202020204" pitchFamily="34" charset="0"/>
              </a:rPr>
              <a:t>ANN receives input data as a feature</a:t>
            </a:r>
            <a:r>
              <a:rPr lang="en-US" sz="1800" dirty="0" smtClean="0">
                <a:latin typeface="Arial" panose="020B0604020202020204" pitchFamily="34" charset="0"/>
              </a:rPr>
              <a:t>.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ANN multiplies the input value by its corresponding weight. Each weight represents the importance of the input feature in making a prediction.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Add Bias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ANN adds a bias value to the weighted input. The bias helps the network adjust its output and improve its learning 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Apply the Activation Function: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ANN applies an activation function to the calculated value. This function introduces nonlinearity, allowing the network to learn complex patterns in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Generate the Output: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ANN uses the processed value to generate a prediction. For example, it may predict the probability of whether the student will pass or fail based on the number of hours studied.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Learn from Errors: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During training, the ANN compares its predicted output with the actual result. It calculates the error and adjusts the weights and biases using a learning process to reduce the error and improve future predictions.</a:t>
            </a:r>
          </a:p>
        </p:txBody>
      </p:sp>
    </p:spTree>
    <p:extLst>
      <p:ext uri="{BB962C8B-B14F-4D97-AF65-F5344CB8AC3E}">
        <p14:creationId xmlns:p14="http://schemas.microsoft.com/office/powerpoint/2010/main" val="4223544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ANN Analogy: Curd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Milk + Starter + Temperature + Time → Processing → </a:t>
            </a:r>
            <a:r>
              <a:rPr dirty="0" smtClean="0"/>
              <a:t>Curd</a:t>
            </a:r>
            <a:endParaRPr lang="en-US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/>
              <a:t>ANN Architecture: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/>
              <a:t>Step </a:t>
            </a:r>
            <a:r>
              <a:rPr lang="en-US" dirty="0"/>
              <a:t>1: Identify the Inputs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dirty="0">
                <a:latin typeface="Arial" panose="020B0604020202020204" pitchFamily="34" charset="0"/>
              </a:rPr>
              <a:t>Input 1 → Milk Quality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Arial" panose="020B0604020202020204" pitchFamily="34" charset="0"/>
              </a:rPr>
              <a:t>Input 2 → Temperature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Arial" panose="020B0604020202020204" pitchFamily="34" charset="0"/>
              </a:rPr>
              <a:t>Input 3 → Starter Culture Quantity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Arial" panose="020B0604020202020204" pitchFamily="34" charset="0"/>
              </a:rPr>
              <a:t>Input 4 → Fermentation Time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82" y="218364"/>
            <a:ext cx="9034817" cy="6469039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/>
              <a:t>For Example:</a:t>
            </a:r>
            <a:br>
              <a:rPr lang="en-US" dirty="0" smtClean="0"/>
            </a:br>
            <a:r>
              <a:rPr lang="en-US" dirty="0" smtClean="0"/>
              <a:t>        </a:t>
            </a:r>
            <a:r>
              <a:rPr lang="en-US" sz="2000" dirty="0" smtClean="0">
                <a:latin typeface="Arial" panose="020B0604020202020204" pitchFamily="34" charset="0"/>
              </a:rPr>
              <a:t>Milk </a:t>
            </a:r>
            <a:r>
              <a:rPr lang="en-US" sz="2000" dirty="0">
                <a:latin typeface="Arial" panose="020B0604020202020204" pitchFamily="34" charset="0"/>
              </a:rPr>
              <a:t>Quality = Fresh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>
                <a:latin typeface="Arial" panose="020B0604020202020204" pitchFamily="34" charset="0"/>
              </a:rPr>
              <a:t>          Temperature </a:t>
            </a:r>
            <a:r>
              <a:rPr lang="en-US" sz="2000" dirty="0">
                <a:latin typeface="Arial" panose="020B0604020202020204" pitchFamily="34" charset="0"/>
              </a:rPr>
              <a:t>= 32°C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>
                <a:latin typeface="Arial" panose="020B0604020202020204" pitchFamily="34" charset="0"/>
              </a:rPr>
              <a:t>          Starter </a:t>
            </a:r>
            <a:r>
              <a:rPr lang="en-US" sz="2000" dirty="0">
                <a:latin typeface="Arial" panose="020B0604020202020204" pitchFamily="34" charset="0"/>
              </a:rPr>
              <a:t>= 2 spoons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>
                <a:latin typeface="Arial" panose="020B0604020202020204" pitchFamily="34" charset="0"/>
              </a:rPr>
              <a:t>          Time </a:t>
            </a:r>
            <a:r>
              <a:rPr lang="en-US" sz="2000" dirty="0">
                <a:latin typeface="Arial" panose="020B0604020202020204" pitchFamily="34" charset="0"/>
              </a:rPr>
              <a:t>= 8 </a:t>
            </a:r>
            <a:r>
              <a:rPr lang="en-US" sz="2000" dirty="0" smtClean="0">
                <a:latin typeface="Arial" panose="020B0604020202020204" pitchFamily="34" charset="0"/>
              </a:rPr>
              <a:t>hours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 smtClean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>
                <a:latin typeface="Arial" panose="020B0604020202020204" pitchFamily="34" charset="0"/>
              </a:rPr>
              <a:t>Step 2: ANN Receives </a:t>
            </a:r>
            <a:r>
              <a:rPr lang="en-US" sz="2000" b="1" dirty="0" smtClean="0">
                <a:latin typeface="Arial" panose="020B0604020202020204" pitchFamily="34" charset="0"/>
              </a:rPr>
              <a:t>Inputs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Arial" panose="020B0604020202020204" pitchFamily="34" charset="0"/>
              </a:rPr>
              <a:t>Milk Quality ──────┐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Arial" panose="020B0604020202020204" pitchFamily="34" charset="0"/>
              </a:rPr>
              <a:t>Temperature ───────┼──► ANN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Arial" panose="020B0604020202020204" pitchFamily="34" charset="0"/>
              </a:rPr>
              <a:t>Starter Culture ───┤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Arial" panose="020B0604020202020204" pitchFamily="34" charset="0"/>
              </a:rPr>
              <a:t>Time ──────────────┘</a:t>
            </a:r>
            <a:endParaRPr lang="en-US" sz="20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>
                <a:latin typeface="Arial" panose="020B0604020202020204" pitchFamily="34" charset="0"/>
              </a:rPr>
              <a:t>Step 3: Hidden Layer Learns Patterns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smtClean="0">
                <a:solidFill>
                  <a:schemeClr val="accent6"/>
                </a:solidFill>
                <a:latin typeface="Arial" panose="020B0604020202020204" pitchFamily="34" charset="0"/>
              </a:rPr>
              <a:t>                                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>
                <a:solidFill>
                  <a:schemeClr val="accent6"/>
                </a:solidFill>
                <a:latin typeface="Arial" panose="020B0604020202020204" pitchFamily="34" charset="0"/>
              </a:rPr>
              <a:t> </a:t>
            </a:r>
            <a:r>
              <a:rPr lang="en-US" sz="1800" dirty="0" smtClean="0">
                <a:solidFill>
                  <a:schemeClr val="accent6"/>
                </a:solidFill>
                <a:latin typeface="Arial" panose="020B0604020202020204" pitchFamily="34" charset="0"/>
              </a:rPr>
              <a:t>                                                     Hidden </a:t>
            </a:r>
            <a:r>
              <a:rPr lang="en-US" sz="1800" dirty="0">
                <a:solidFill>
                  <a:schemeClr val="accent6"/>
                </a:solidFill>
                <a:latin typeface="Arial" panose="020B0604020202020204" pitchFamily="34" charset="0"/>
              </a:rPr>
              <a:t>Layer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Arial" panose="020B0604020202020204" pitchFamily="34" charset="0"/>
              </a:rPr>
              <a:t>         </a:t>
            </a:r>
            <a:r>
              <a:rPr lang="en-US" dirty="0" smtClean="0">
                <a:latin typeface="Arial" panose="020B0604020202020204" pitchFamily="34" charset="0"/>
              </a:rPr>
              <a:t>               </a:t>
            </a:r>
            <a:r>
              <a:rPr lang="en-US" dirty="0">
                <a:latin typeface="Arial" panose="020B0604020202020204" pitchFamily="34" charset="0"/>
              </a:rPr>
              <a:t>  ●    ●    ●    </a:t>
            </a:r>
            <a:r>
              <a:rPr lang="en-US" dirty="0" smtClean="0">
                <a:latin typeface="Arial" panose="020B0604020202020204" pitchFamily="34" charset="0"/>
              </a:rPr>
              <a:t>●</a:t>
            </a:r>
            <a:endParaRPr 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Arial" panose="020B0604020202020204" pitchFamily="34" charset="0"/>
              </a:rPr>
              <a:t>       </a:t>
            </a:r>
            <a:r>
              <a:rPr lang="en-US" dirty="0" smtClean="0">
                <a:latin typeface="Arial" panose="020B0604020202020204" pitchFamily="34" charset="0"/>
              </a:rPr>
              <a:t>                </a:t>
            </a:r>
            <a:r>
              <a:rPr lang="en-US" dirty="0">
                <a:latin typeface="Arial" panose="020B0604020202020204" pitchFamily="34" charset="0"/>
              </a:rPr>
              <a:t>   /|\  </a:t>
            </a:r>
            <a:r>
              <a:rPr lang="en-US" dirty="0" smtClean="0">
                <a:latin typeface="Arial" panose="020B0604020202020204" pitchFamily="34" charset="0"/>
              </a:rPr>
              <a:t> /|\</a:t>
            </a:r>
            <a:r>
              <a:rPr lang="en-US" dirty="0">
                <a:latin typeface="Arial" panose="020B0604020202020204" pitchFamily="34" charset="0"/>
              </a:rPr>
              <a:t>  </a:t>
            </a:r>
            <a:r>
              <a:rPr lang="en-US" dirty="0" smtClean="0">
                <a:latin typeface="Arial" panose="020B0604020202020204" pitchFamily="34" charset="0"/>
              </a:rPr>
              <a:t> /|\</a:t>
            </a:r>
            <a:r>
              <a:rPr lang="en-US" dirty="0">
                <a:latin typeface="Arial" panose="020B0604020202020204" pitchFamily="34" charset="0"/>
              </a:rPr>
              <a:t> </a:t>
            </a:r>
            <a:r>
              <a:rPr lang="en-US" dirty="0" smtClean="0">
                <a:latin typeface="Arial" panose="020B0604020202020204" pitchFamily="34" charset="0"/>
              </a:rPr>
              <a:t>  /|\</a:t>
            </a:r>
            <a:endParaRPr lang="en-IN" dirty="0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0" y="-184666"/>
            <a:ext cx="11464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       \</a:t>
            </a:r>
          </a:p>
        </p:txBody>
      </p:sp>
    </p:spTree>
    <p:extLst>
      <p:ext uri="{BB962C8B-B14F-4D97-AF65-F5344CB8AC3E}">
        <p14:creationId xmlns:p14="http://schemas.microsoft.com/office/powerpoint/2010/main" val="1788626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773" y="286604"/>
            <a:ext cx="8816454" cy="6318912"/>
          </a:xfrm>
        </p:spPr>
        <p:txBody>
          <a:bodyPr>
            <a:normAutofit/>
          </a:bodyPr>
          <a:lstStyle/>
          <a:p>
            <a:r>
              <a:rPr lang="en-US" sz="2000" dirty="0"/>
              <a:t>The hidden layer learns patterns such as</a:t>
            </a:r>
            <a:r>
              <a:rPr lang="en-US" sz="2000" dirty="0" smtClean="0"/>
              <a:t>:</a:t>
            </a:r>
          </a:p>
          <a:p>
            <a:r>
              <a:rPr lang="en-US" sz="2000" dirty="0" smtClean="0"/>
              <a:t>Is </a:t>
            </a:r>
            <a:r>
              <a:rPr lang="en-US" sz="2000" dirty="0"/>
              <a:t>the temperature suitable</a:t>
            </a:r>
            <a:r>
              <a:rPr lang="en-US" sz="2000" dirty="0" smtClean="0"/>
              <a:t>?</a:t>
            </a:r>
          </a:p>
          <a:p>
            <a:r>
              <a:rPr lang="en-US" sz="2000" dirty="0" smtClean="0"/>
              <a:t>Is </a:t>
            </a:r>
            <a:r>
              <a:rPr lang="en-US" sz="2000" dirty="0"/>
              <a:t>the milk fresh</a:t>
            </a:r>
            <a:r>
              <a:rPr lang="en-US" sz="2000" dirty="0" smtClean="0"/>
              <a:t>?</a:t>
            </a:r>
          </a:p>
          <a:p>
            <a:r>
              <a:rPr lang="en-US" sz="2000" dirty="0" smtClean="0"/>
              <a:t>Is </a:t>
            </a:r>
            <a:r>
              <a:rPr lang="en-US" sz="2000" dirty="0"/>
              <a:t>there enough starter culture</a:t>
            </a:r>
            <a:r>
              <a:rPr lang="en-US" sz="2000" dirty="0" smtClean="0"/>
              <a:t>?</a:t>
            </a:r>
          </a:p>
          <a:p>
            <a:r>
              <a:rPr lang="en-US" sz="2000" dirty="0" smtClean="0"/>
              <a:t>Has </a:t>
            </a:r>
            <a:r>
              <a:rPr lang="en-US" sz="2000" dirty="0"/>
              <a:t>enough </a:t>
            </a:r>
            <a:r>
              <a:rPr lang="en-US" sz="2000" dirty="0" smtClean="0"/>
              <a:t>time </a:t>
            </a:r>
            <a:r>
              <a:rPr lang="en-US" sz="2000" dirty="0"/>
              <a:t>passed</a:t>
            </a:r>
            <a:r>
              <a:rPr lang="en-US" sz="2000" dirty="0" smtClean="0"/>
              <a:t>?</a:t>
            </a:r>
          </a:p>
          <a:p>
            <a:pPr marL="0" indent="0">
              <a:buNone/>
            </a:pPr>
            <a:endParaRPr lang="en-US" sz="20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>
                <a:latin typeface="Arial" panose="020B0604020202020204" pitchFamily="34" charset="0"/>
              </a:rPr>
              <a:t>      Milk </a:t>
            </a:r>
            <a:r>
              <a:rPr lang="en-US" sz="2000" dirty="0">
                <a:latin typeface="Arial" panose="020B0604020202020204" pitchFamily="34" charset="0"/>
              </a:rPr>
              <a:t>Quality ──────┐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Arial" panose="020B0604020202020204" pitchFamily="34" charset="0"/>
              </a:rPr>
              <a:t>                   │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>
                <a:latin typeface="Arial" panose="020B0604020202020204" pitchFamily="34" charset="0"/>
              </a:rPr>
              <a:t>       Temperature </a:t>
            </a:r>
            <a:r>
              <a:rPr lang="en-US" sz="2000" dirty="0">
                <a:latin typeface="Arial" panose="020B0604020202020204" pitchFamily="34" charset="0"/>
              </a:rPr>
              <a:t>───────┼────► Hidden Layer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Arial" panose="020B0604020202020204" pitchFamily="34" charset="0"/>
              </a:rPr>
              <a:t>                   │         </a:t>
            </a:r>
            <a:r>
              <a:rPr lang="en-US" sz="2000" dirty="0" smtClean="0">
                <a:latin typeface="Arial" panose="020B0604020202020204" pitchFamily="34" charset="0"/>
              </a:rPr>
              <a:t>                                     </a:t>
            </a:r>
            <a:r>
              <a:rPr lang="en-US" sz="2000" dirty="0">
                <a:latin typeface="Arial" panose="020B0604020202020204" pitchFamily="34" charset="0"/>
              </a:rPr>
              <a:t>  ● ● ● ●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>
                <a:latin typeface="Arial" panose="020B0604020202020204" pitchFamily="34" charset="0"/>
              </a:rPr>
              <a:t>              Starter </a:t>
            </a:r>
            <a:r>
              <a:rPr lang="en-US" sz="2000" dirty="0">
                <a:latin typeface="Arial" panose="020B0604020202020204" pitchFamily="34" charset="0"/>
              </a:rPr>
              <a:t>Culture ───┤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Arial" panose="020B0604020202020204" pitchFamily="34" charset="0"/>
              </a:rPr>
              <a:t>                   │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>
                <a:latin typeface="Arial" panose="020B0604020202020204" pitchFamily="34" charset="0"/>
              </a:rPr>
              <a:t>      Fermentation </a:t>
            </a:r>
            <a:r>
              <a:rPr lang="en-US" sz="2000" dirty="0">
                <a:latin typeface="Arial" panose="020B0604020202020204" pitchFamily="34" charset="0"/>
              </a:rPr>
              <a:t>Time ─┘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Arial" panose="020B0604020202020204" pitchFamily="34" charset="0"/>
              </a:rPr>
              <a:t>                          </a:t>
            </a:r>
            <a:r>
              <a:rPr lang="en-US" sz="2000" dirty="0" smtClean="0">
                <a:latin typeface="Arial" panose="020B0604020202020204" pitchFamily="34" charset="0"/>
              </a:rPr>
              <a:t>                                           </a:t>
            </a:r>
            <a:r>
              <a:rPr lang="en-US" sz="2000" dirty="0">
                <a:latin typeface="Arial" panose="020B0604020202020204" pitchFamily="34" charset="0"/>
              </a:rPr>
              <a:t>    │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Arial" panose="020B0604020202020204" pitchFamily="34" charset="0"/>
              </a:rPr>
              <a:t>                       </a:t>
            </a:r>
            <a:r>
              <a:rPr lang="en-US" sz="2000" dirty="0" smtClean="0">
                <a:latin typeface="Arial" panose="020B0604020202020204" pitchFamily="34" charset="0"/>
              </a:rPr>
              <a:t>                                           </a:t>
            </a:r>
            <a:r>
              <a:rPr lang="en-US" sz="2000" dirty="0">
                <a:latin typeface="Arial" panose="020B0604020202020204" pitchFamily="34" charset="0"/>
              </a:rPr>
              <a:t>       ▼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Arial" panose="020B0604020202020204" pitchFamily="34" charset="0"/>
              </a:rPr>
              <a:t>                    </a:t>
            </a:r>
            <a:r>
              <a:rPr lang="en-US" sz="2000" dirty="0" smtClean="0">
                <a:latin typeface="Arial" panose="020B0604020202020204" pitchFamily="34" charset="0"/>
              </a:rPr>
              <a:t>                                         </a:t>
            </a:r>
            <a:r>
              <a:rPr lang="en-US" sz="2000" dirty="0">
                <a:latin typeface="Arial" panose="020B0604020202020204" pitchFamily="34" charset="0"/>
              </a:rPr>
              <a:t>    Good Curd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Arial" panose="020B0604020202020204" pitchFamily="34" charset="0"/>
              </a:rPr>
              <a:t>                         </a:t>
            </a:r>
            <a:r>
              <a:rPr lang="en-US" sz="2000" dirty="0" smtClean="0">
                <a:latin typeface="Arial" panose="020B0604020202020204" pitchFamily="34" charset="0"/>
              </a:rPr>
              <a:t>                                                or</a:t>
            </a:r>
            <a:endParaRPr lang="en-US" sz="20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Arial" panose="020B0604020202020204" pitchFamily="34" charset="0"/>
              </a:rPr>
              <a:t>                      </a:t>
            </a:r>
            <a:r>
              <a:rPr lang="en-US" sz="2000" dirty="0" smtClean="0">
                <a:latin typeface="Arial" panose="020B0604020202020204" pitchFamily="34" charset="0"/>
              </a:rPr>
              <a:t>                                           </a:t>
            </a:r>
            <a:r>
              <a:rPr lang="en-US" sz="2000" dirty="0">
                <a:latin typeface="Arial" panose="020B0604020202020204" pitchFamily="34" charset="0"/>
              </a:rPr>
              <a:t>   Bad Curd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10726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2690000"/>
              </p:ext>
            </p:extLst>
          </p:nvPr>
        </p:nvGraphicFramePr>
        <p:xfrm>
          <a:off x="333210" y="428066"/>
          <a:ext cx="8229600" cy="25603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Disadvantages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Learns automatically from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Needs large datasets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Handles complex problems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Training can be slow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High prediction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High computational cost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Works with noisy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Difficult to interpret results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Adaptable and flexible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Can overfit training data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Supports parallel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Requires parameter tuning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33210" y="3493827"/>
            <a:ext cx="82295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Real-World Applications</a:t>
            </a:r>
          </a:p>
          <a:p>
            <a:r>
              <a:rPr lang="en-US" dirty="0" smtClean="0"/>
              <a:t>Face Recognition</a:t>
            </a:r>
          </a:p>
          <a:p>
            <a:r>
              <a:rPr lang="en-US" dirty="0" smtClean="0"/>
              <a:t>Spam Detection</a:t>
            </a:r>
          </a:p>
          <a:p>
            <a:r>
              <a:rPr lang="en-US" dirty="0" smtClean="0"/>
              <a:t>Stock </a:t>
            </a:r>
            <a:r>
              <a:rPr lang="en-US" dirty="0"/>
              <a:t>Market </a:t>
            </a:r>
            <a:r>
              <a:rPr lang="en-US" dirty="0" smtClean="0"/>
              <a:t>Prediction</a:t>
            </a:r>
          </a:p>
          <a:p>
            <a:r>
              <a:rPr lang="en-US" dirty="0" smtClean="0"/>
              <a:t>Medical Diagnosis</a:t>
            </a:r>
          </a:p>
          <a:p>
            <a:r>
              <a:rPr lang="en-US" dirty="0" smtClean="0"/>
              <a:t>Voice </a:t>
            </a:r>
            <a:r>
              <a:rPr lang="en-US" dirty="0"/>
              <a:t>Assistants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3972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Deep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Learning (DL) is a branch of Machine Learning that uses Artificial Neural Networks (ANNs) with many hidden layers to learn patterns from large amounts of </a:t>
            </a:r>
            <a:r>
              <a:rPr lang="en-US" dirty="0" err="1"/>
              <a:t>data.It</a:t>
            </a:r>
            <a:r>
              <a:rPr lang="en-US" dirty="0"/>
              <a:t> is called "deep" because the neural network contains multiple layers between the input and the output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81" y="313899"/>
            <a:ext cx="8707272" cy="574570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          TYPES OF DL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19725" y="1600200"/>
          <a:ext cx="5504549" cy="4525963"/>
        </p:xfrm>
        <a:graphic>
          <a:graphicData uri="http://schemas.openxmlformats.org/drawingml/2006/table">
            <a:tbl>
              <a:tblPr/>
              <a:tblGrid>
                <a:gridCol w="5504549"/>
              </a:tblGrid>
              <a:tr h="4281316">
                <a:tc>
                  <a:txBody>
                    <a:bodyPr/>
                    <a:lstStyle/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Deep Learning Types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 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ANN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│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├─ Tabular Data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│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CNN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├─ Images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│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RNN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├─ Sequential Data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│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LSTM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├─ Long-Term Memory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│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Autoencoder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├─ Compression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│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GAN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├─ Image Generation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│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Transformer</a:t>
                      </a:r>
                    </a:p>
                    <a:p>
                      <a:pPr fontAlgn="t"/>
                      <a:r>
                        <a:rPr lang="en-IN" sz="1200" b="0" i="0">
                          <a:effectLst/>
                          <a:latin typeface="Segoe UI" panose="020B0502040204020203" pitchFamily="34" charset="0"/>
                        </a:rPr>
                        <a:t>└─ Generative AI</a:t>
                      </a:r>
                    </a:p>
                  </a:txBody>
                  <a:tcPr marL="61162" marR="61162" marT="30581" marB="30581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4647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 marL="61162" marR="61162" marT="30581" marB="30581"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182524"/>
              </p:ext>
            </p:extLst>
          </p:nvPr>
        </p:nvGraphicFramePr>
        <p:xfrm>
          <a:off x="559559" y="1735296"/>
          <a:ext cx="8253448" cy="25603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38648"/>
                <a:gridCol w="4114800"/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Pros of 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Cons of Deep Learning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🎯 High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💾 Needs Large Data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🤖 Automatic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💻 Expensive Hardware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🖼️ Works with Images, Text &amp; Audio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⏳ Long Training Time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🚀 Powers ChatGPT &amp; Copilot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🔍 Hard to Explain Decisions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📈 Improves with More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⚠️ </a:t>
                      </a:r>
                      <a:r>
                        <a:rPr lang="en-IN" dirty="0" err="1">
                          <a:effectLst/>
                        </a:rPr>
                        <a:t>Overfitting</a:t>
                      </a:r>
                      <a:r>
                        <a:rPr lang="en-IN" dirty="0">
                          <a:effectLst/>
                        </a:rPr>
                        <a:t> Risk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539" y="371902"/>
            <a:ext cx="8659505" cy="6179023"/>
          </a:xfrm>
        </p:spPr>
        <p:txBody>
          <a:bodyPr/>
          <a:lstStyle/>
          <a:p>
            <a:r>
              <a:rPr lang="en-US" dirty="0"/>
              <a:t>1. What is an Artificial Neural Network (ANN</a:t>
            </a:r>
            <a:r>
              <a:rPr lang="en-US" dirty="0" smtClean="0"/>
              <a:t>)?</a:t>
            </a:r>
          </a:p>
          <a:p>
            <a:r>
              <a:rPr lang="en-US" dirty="0"/>
              <a:t>2. What is Deep Learning</a:t>
            </a:r>
            <a:r>
              <a:rPr lang="en-US" dirty="0" smtClean="0"/>
              <a:t>?</a:t>
            </a:r>
          </a:p>
          <a:p>
            <a:r>
              <a:rPr lang="en-US" dirty="0"/>
              <a:t>3. What is the difference between ANN and Deep Learning</a:t>
            </a:r>
            <a:r>
              <a:rPr lang="en-US" dirty="0" smtClean="0"/>
              <a:t>?</a:t>
            </a:r>
          </a:p>
          <a:p>
            <a:r>
              <a:rPr lang="en-US" dirty="0"/>
              <a:t>4. What are the main components of an ANN</a:t>
            </a:r>
            <a:r>
              <a:rPr lang="en-US" dirty="0" smtClean="0"/>
              <a:t>?</a:t>
            </a:r>
          </a:p>
          <a:p>
            <a:r>
              <a:rPr lang="en-US" dirty="0"/>
              <a:t>5. What is a neuron in ANN</a:t>
            </a:r>
            <a:r>
              <a:rPr lang="en-US" dirty="0" smtClean="0"/>
              <a:t>?</a:t>
            </a:r>
          </a:p>
          <a:p>
            <a:r>
              <a:rPr lang="en-US" dirty="0"/>
              <a:t>6. What are weights and biases</a:t>
            </a:r>
            <a:r>
              <a:rPr lang="en-US" dirty="0" smtClean="0"/>
              <a:t>?</a:t>
            </a:r>
          </a:p>
          <a:p>
            <a:r>
              <a:rPr lang="en-US" dirty="0"/>
              <a:t>7. What is an activation function</a:t>
            </a:r>
            <a:r>
              <a:rPr lang="en-US" dirty="0" smtClean="0"/>
              <a:t>?</a:t>
            </a:r>
          </a:p>
          <a:p>
            <a:r>
              <a:rPr lang="en-US" dirty="0"/>
              <a:t>8. Why is </a:t>
            </a:r>
            <a:r>
              <a:rPr lang="en-US" dirty="0" err="1"/>
              <a:t>ReLU</a:t>
            </a:r>
            <a:r>
              <a:rPr lang="en-US" dirty="0"/>
              <a:t> widely used?</a:t>
            </a:r>
            <a:endParaRPr lang="en-US" dirty="0" smtClean="0"/>
          </a:p>
          <a:p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10,000+ Free Big Thanks &amp; Thank You Images - Pixabay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91" y="1352550"/>
            <a:ext cx="7163217" cy="477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298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555</Words>
  <Application>Microsoft Office PowerPoint</Application>
  <PresentationFormat>On-screen Show (4:3)</PresentationFormat>
  <Paragraphs>218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CanvaSans-Regular</vt:lpstr>
      <vt:lpstr>Segoe UI</vt:lpstr>
      <vt:lpstr>Office Theme</vt:lpstr>
      <vt:lpstr>ANN and Deep Learning in Generative AI</vt:lpstr>
      <vt:lpstr>Evolution of AI</vt:lpstr>
      <vt:lpstr>PowerPoint Presentation</vt:lpstr>
      <vt:lpstr>What is ANN?</vt:lpstr>
      <vt:lpstr>PowerPoint Presentation</vt:lpstr>
      <vt:lpstr>PowerPoint Presentation</vt:lpstr>
      <vt:lpstr>How ANN Works</vt:lpstr>
      <vt:lpstr>PowerPoint Presentation</vt:lpstr>
      <vt:lpstr>PowerPoint Presentation</vt:lpstr>
      <vt:lpstr>ANN Analogy: Curd Preparation</vt:lpstr>
      <vt:lpstr>PowerPoint Presentation</vt:lpstr>
      <vt:lpstr>PowerPoint Presentation</vt:lpstr>
      <vt:lpstr>PowerPoint Presentation</vt:lpstr>
      <vt:lpstr>What is Deep Learning?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 and Deep Learning in Generative AI</dc:title>
  <dc:subject/>
  <dc:creator>M365 Copilot</dc:creator>
  <cp:keywords/>
  <dc:description>generated using python-pptx</dc:description>
  <cp:lastModifiedBy>HP</cp:lastModifiedBy>
  <cp:revision>16</cp:revision>
  <dcterms:created xsi:type="dcterms:W3CDTF">2026-10-15T09:27:29Z</dcterms:created>
  <dcterms:modified xsi:type="dcterms:W3CDTF">2026-10-16T05:15:29Z</dcterms:modified>
  <cp:category/>
</cp:coreProperties>
</file>